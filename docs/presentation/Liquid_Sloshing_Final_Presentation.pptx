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301" r:id="rId52"/>
    <p:sldId id="293" r:id="rId44"/>
    <p:sldId id="294" r:id="rId45"/>
    <p:sldId id="296" r:id="rId47"/>
    <p:sldId id="298" r:id="rId49"/>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June to October 2026: design and modelling in June and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It opens directly from our presentation folder in any web browser, and needs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Jun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June to October 2026, about five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new.png"/>
          <p:cNvPicPr>
            <a:picLocks noChangeAspect="1"/>
          </p:cNvPicPr>
          <p:nvPr/>
        </p:nvPicPr>
        <p:blipFill>
          <a:blip r:embed="rId2"/>
          <a:stretch>
            <a:fillRect/>
          </a:stretch>
        </p:blipFill>
        <p:spPr>
          <a:xfrm>
            <a:off x="1218209" y="1783080"/>
            <a:ext cx="9725101"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364992"/>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3D simulation in a web browser</a:t>
            </a:r>
          </a:p>
        </p:txBody>
      </p:sp>
      <p:sp>
        <p:nvSpPr>
          <p:cNvPr id="4" name="Rounded Rectangle 3"/>
          <p:cNvSpPr/>
          <p:nvPr/>
        </p:nvSpPr>
        <p:spPr>
          <a:xfrm>
            <a:off x="548640" y="1783080"/>
            <a:ext cx="1106424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11064240" cy="21031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marL="201168" indent="-182880">
              <a:spcAft>
                <a:spcPts val="1000"/>
              </a:spcAft>
              <a:buChar char="•"/>
            </a:pPr>
            <a:r>
              <a:rPr sz="1600" b="0" i="0">
                <a:solidFill>
                  <a:srgbClr val="2B2B2B"/>
                </a:solidFill>
                <a:latin typeface="Calibri"/>
              </a:rPr>
              <a:t>Recorded: replay of the real SPH water in the tilting tank</a:t>
            </a:r>
          </a:p>
          <a:p>
            <a:pPr algn="l" marL="201168" indent="-182880">
              <a:spcAft>
                <a:spcPts val="1000"/>
              </a:spcAft>
              <a:buChar char="•"/>
            </a:pPr>
            <a:r>
              <a:rPr sz="1600" b="0" i="0">
                <a:solidFill>
                  <a:srgbClr val="2B2B2B"/>
                </a:solidFill>
                <a:latin typeface="Calibri"/>
              </a:rPr>
              <a:t>Live: drive the tank yourself with the fast model</a:t>
            </a:r>
          </a:p>
          <a:p>
            <a:pPr algn="l" marL="201168" indent="-182880">
              <a:spcAft>
                <a:spcPts val="1000"/>
              </a:spcAft>
              <a:buChar char="•"/>
            </a:pPr>
            <a:r>
              <a:rPr sz="1600" b="0" i="0">
                <a:solidFill>
                  <a:srgbClr val="2B2B2B"/>
                </a:solidFill>
                <a:latin typeface="Calibri"/>
              </a:rPr>
              <a:t>Road: the tank on a truck bed over a bumpy road</a:t>
            </a:r>
          </a:p>
          <a:p>
            <a:pPr algn="l" marL="201168" indent="-182880">
              <a:spcAft>
                <a:spcPts val="1000"/>
              </a:spcAft>
              <a:buChar char="•"/>
            </a:pPr>
            <a:r>
              <a:rPr sz="1600" b="0" i="0">
                <a:solidFill>
                  <a:srgbClr val="2B2B2B"/>
                </a:solidFill>
                <a:latin typeface="Calibri"/>
              </a:rPr>
              <a:t>Resolution: compare the four particle sizes</a:t>
            </a:r>
          </a:p>
        </p:txBody>
      </p:sp>
      <p:sp>
        <p:nvSpPr>
          <p:cNvPr id="6" name="TextBox 5"/>
          <p:cNvSpPr txBox="1"/>
          <p:nvPr/>
        </p:nvSpPr>
        <p:spPr>
          <a:xfrm>
            <a:off x="548640" y="4709160"/>
            <a:ext cx="1106424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138928"/>
            <a:ext cx="1106424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