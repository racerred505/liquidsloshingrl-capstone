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 The complete project, with all the code, trained models, results and the paper, is on GitHub at the link at the bottom of the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hyperlink" Target="https://github.com/RacerRed505/LiquidSloshingRL-Capstone"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cxnSp>
        <p:nvCxnSpPr>
          <p:cNvPr id="6" name="Connector 5"/>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8" name="Rounded Rectangle 7"/>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cxnSp>
        <p:nvCxnSpPr>
          <p:cNvPr id="9" name="Connector 8"/>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1" name="Rounded Rectangle 10"/>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cxnSp>
        <p:nvCxnSpPr>
          <p:cNvPr id="12" name="Connector 11"/>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4" name="Rounded Rectangle 13"/>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cxnSp>
        <p:nvCxnSpPr>
          <p:cNvPr id="15" name="Connector 14"/>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17" name="Rounded Rectangle 16"/>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cxnSp>
        <p:nvCxnSpPr>
          <p:cNvPr id="18" name="Connector 17"/>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0" name="Rounded Rectangle 19"/>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1" name="Rounded Rectangle 20"/>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2" name="Rounded Rectangle 21"/>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3" name="Rounded Rectangle 22"/>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24" name="TextBox 2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25" name="TextBox 2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785616"/>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07492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07492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548640" y="5897880"/>
            <a:ext cx="11064240" cy="411480"/>
          </a:xfrm>
          <a:prstGeom prst="rect">
            <a:avLst/>
          </a:prstGeom>
          <a:noFill/>
        </p:spPr>
        <p:txBody>
          <a:bodyPr wrap="square">
            <a:spAutoFit/>
          </a:bodyPr>
          <a:lstStyle/>
          <a:p>
            <a:pPr algn="ctr"/>
            <a:r>
              <a:rPr sz="1400">
                <a:solidFill>
                  <a:srgbClr val="2B2B2B"/>
                </a:solidFill>
                <a:latin typeface="Calibri"/>
              </a:rPr>
              <a:t>Full project (code, models, results, paper): </a:t>
            </a:r>
            <a:r>
              <a:rPr sz="1400" b="1">
                <a:solidFill>
                  <a:srgbClr val="1F5F86"/>
                </a:solidFill>
                <a:latin typeface="Calibri"/>
                <a:hlinkClick r:id="rId4"/>
              </a:rPr>
              <a:t>https://github.com/RacerRed505/LiquidSloshingRL-Capstone</a:t>
            </a:r>
          </a:p>
        </p:txBody>
      </p:sp>
      <p:sp>
        <p:nvSpPr>
          <p:cNvPr id="13" name="TextBox 12"/>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4" name="TextBox 13"/>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39" cy="3950208"/>
        </p:xfrm>
        <a:graphic>
          <a:graphicData uri="http://schemas.openxmlformats.org/drawingml/2006/table">
            <a:tbl>
              <a:tblPr firstRow="0" bandRow="0">
                <a:tableStyleId>{5940675A-B579-460E-94D1-54222C63F5DA}</a:tableStyleId>
              </a:tblPr>
              <a:tblGrid>
                <a:gridCol w="3108960"/>
                <a:gridCol w="4206240"/>
                <a:gridCol w="3749039"/>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