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 The work ran from June to October 2026: design and modelling in June and July, the controllers in July and August, the SPH simulations and checks in August and September, and the two-way comparison, the second-review checks, the paper, the report and this presentation in September and October. A large share of that time went into GPU runs, the longest of which took about nine hours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sp>
        <p:nvSpPr>
          <p:cNvPr id="6" name="Rounded Rectangle 5"/>
          <p:cNvSpPr/>
          <p:nvPr/>
        </p:nvSpPr>
        <p:spPr>
          <a:xfrm>
            <a:off x="7315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Jun 2026</a:t>
            </a:r>
          </a:p>
        </p:txBody>
      </p:sp>
      <p:cxnSp>
        <p:nvCxnSpPr>
          <p:cNvPr id="7" name="Connector 6"/>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9" name="Rounded Rectangle 8"/>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sp>
        <p:nvSpPr>
          <p:cNvPr id="10" name="Rounded Rectangle 9"/>
          <p:cNvSpPr/>
          <p:nvPr/>
        </p:nvSpPr>
        <p:spPr>
          <a:xfrm>
            <a:off x="261366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2026</a:t>
            </a:r>
          </a:p>
        </p:txBody>
      </p:sp>
      <p:cxnSp>
        <p:nvCxnSpPr>
          <p:cNvPr id="11" name="Connector 10"/>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3" name="Rounded Rectangle 12"/>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sp>
        <p:nvSpPr>
          <p:cNvPr id="14" name="Rounded Rectangle 13"/>
          <p:cNvSpPr/>
          <p:nvPr/>
        </p:nvSpPr>
        <p:spPr>
          <a:xfrm>
            <a:off x="449580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 Aug</a:t>
            </a:r>
          </a:p>
        </p:txBody>
      </p:sp>
      <p:cxnSp>
        <p:nvCxnSpPr>
          <p:cNvPr id="15" name="Connector 14"/>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7" name="Rounded Rectangle 16"/>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sp>
        <p:nvSpPr>
          <p:cNvPr id="18" name="Rounded Rectangle 17"/>
          <p:cNvSpPr/>
          <p:nvPr/>
        </p:nvSpPr>
        <p:spPr>
          <a:xfrm>
            <a:off x="637794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 – Sep</a:t>
            </a:r>
          </a:p>
        </p:txBody>
      </p:sp>
      <p:cxnSp>
        <p:nvCxnSpPr>
          <p:cNvPr id="19" name="Connector 18"/>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21" name="Rounded Rectangle 20"/>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sp>
        <p:nvSpPr>
          <p:cNvPr id="22" name="Rounded Rectangle 21"/>
          <p:cNvSpPr/>
          <p:nvPr/>
        </p:nvSpPr>
        <p:spPr>
          <a:xfrm>
            <a:off x="826008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a:t>
            </a:r>
          </a:p>
        </p:txBody>
      </p:sp>
      <p:cxnSp>
        <p:nvCxnSpPr>
          <p:cNvPr id="23" name="Connector 22"/>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5" name="Rounded Rectangle 24"/>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6" name="Rounded Rectangle 25"/>
          <p:cNvSpPr/>
          <p:nvPr/>
        </p:nvSpPr>
        <p:spPr>
          <a:xfrm>
            <a:off x="101422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 – Oct</a:t>
            </a:r>
          </a:p>
        </p:txBody>
      </p:sp>
      <p:sp>
        <p:nvSpPr>
          <p:cNvPr id="27" name="Rounded Rectangle 26"/>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8" name="Rounded Rectangle 27"/>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9" name="Rounded Rectangle 28"/>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30" name="TextBox 29"/>
          <p:cNvSpPr txBox="1"/>
          <p:nvPr/>
        </p:nvSpPr>
        <p:spPr>
          <a:xfrm>
            <a:off x="548640" y="5532120"/>
            <a:ext cx="11064240" cy="411480"/>
          </a:xfrm>
          <a:prstGeom prst="rect">
            <a:avLst/>
          </a:prstGeom>
          <a:noFill/>
        </p:spPr>
        <p:txBody>
          <a:bodyPr wrap="square" anchor="t" lIns="45720" rIns="45720">
            <a:spAutoFit/>
          </a:bodyPr>
          <a:lstStyle/>
          <a:p>
            <a:pPr>
              <a:spcAft>
                <a:spcPts val="600"/>
              </a:spcAft>
            </a:pPr>
            <a:r>
              <a:rPr sz="1300" b="1" i="0">
                <a:solidFill>
                  <a:srgbClr val="2B2B2B"/>
                </a:solidFill>
                <a:latin typeface="Calibri"/>
              </a:rPr>
              <a:t>Timeline: </a:t>
            </a:r>
            <a:r>
              <a:rPr sz="1300" b="0" i="0">
                <a:solidFill>
                  <a:srgbClr val="2B2B2B"/>
                </a:solidFill>
                <a:latin typeface="Calibri"/>
              </a:rPr>
              <a:t>June to October 2026, about five months. October: second-review checks, research paper, report and presentation. The finest SPH runs took up to 9 hours each on the GPU.</a:t>
            </a:r>
          </a:p>
        </p:txBody>
      </p:sp>
      <p:sp>
        <p:nvSpPr>
          <p:cNvPr id="31" name="TextBox 3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32" name="TextBox 3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785616"/>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44068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44068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3" name="TextBox 12"/>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3840480"/>
                <a:gridCol w="3383280"/>
                <a:gridCol w="1005840"/>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When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Aug – 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